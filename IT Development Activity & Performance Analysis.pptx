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7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13876B6-3035-46E5-9845-4192A589E23A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147BE13C-FD89-4A1E-B9B1-01C36BC613B3}">
          <p14:sldIdLst>
            <p14:sldId id="267"/>
            <p14:sldId id="268"/>
            <p14:sldId id="269"/>
            <p14:sldId id="27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87951-5E85-2A68-40D6-9C817696B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2514600"/>
          </a:xfrm>
        </p:spPr>
        <p:txBody>
          <a:bodyPr/>
          <a:lstStyle/>
          <a:p>
            <a:pPr algn="ctr"/>
            <a:r>
              <a:rPr lang="en-IN" sz="5400" dirty="0"/>
              <a:t>IT Development Activity &amp; Performance Analysis</a:t>
            </a:r>
            <a:br>
              <a:rPr lang="en-IN" sz="5400" dirty="0"/>
            </a:b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5D602-55D5-19DC-F686-7DB2DA943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677266"/>
            <a:ext cx="8825658" cy="865238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tx1"/>
                </a:solidFill>
              </a:rPr>
              <a:t>An interactive Power bi dashboard for developer, workload &amp; project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859764-0FAE-4B23-294F-0D34A420CB4D}"/>
              </a:ext>
            </a:extLst>
          </p:cNvPr>
          <p:cNvSpPr txBox="1"/>
          <p:nvPr/>
        </p:nvSpPr>
        <p:spPr>
          <a:xfrm>
            <a:off x="8278761" y="4789553"/>
            <a:ext cx="1868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Annmi Sunny</a:t>
            </a:r>
          </a:p>
          <a:p>
            <a:r>
              <a:rPr lang="en-IN" dirty="0"/>
              <a:t>Data Science</a:t>
            </a:r>
          </a:p>
          <a:p>
            <a:r>
              <a:rPr lang="en-IN" dirty="0"/>
              <a:t>April-2026</a:t>
            </a:r>
          </a:p>
        </p:txBody>
      </p:sp>
    </p:spTree>
    <p:extLst>
      <p:ext uri="{BB962C8B-B14F-4D97-AF65-F5344CB8AC3E}">
        <p14:creationId xmlns:p14="http://schemas.microsoft.com/office/powerpoint/2010/main" val="3890194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4B50-1CD8-65D9-1F33-9E2811599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1101213"/>
            <a:ext cx="8748612" cy="894735"/>
          </a:xfrm>
        </p:spPr>
        <p:txBody>
          <a:bodyPr/>
          <a:lstStyle/>
          <a:p>
            <a:r>
              <a:rPr lang="en-IN" sz="36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A1205-40F8-BAE8-97ED-6D0E4B77C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281084"/>
            <a:ext cx="8946541" cy="3967315"/>
          </a:xfrm>
        </p:spPr>
        <p:txBody>
          <a:bodyPr/>
          <a:lstStyle/>
          <a:p>
            <a:pPr algn="just"/>
            <a:r>
              <a:rPr lang="en-IN" dirty="0"/>
              <a:t>IT development teams generate a large amount of activity and performance data but analysing this data manually can make it difficult to identify productivity trends, workload issues, burnout risks, and project performance.</a:t>
            </a:r>
          </a:p>
          <a:p>
            <a:pPr algn="just"/>
            <a:r>
              <a:rPr lang="en-IN" dirty="0"/>
              <a:t>A centralised and interactive dashboard is needed to transform this data into meaningful insights that support effective monitoring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836885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71A0-BD61-5759-311E-F1A7E1018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292" y="963562"/>
            <a:ext cx="8769561" cy="747251"/>
          </a:xfrm>
        </p:spPr>
        <p:txBody>
          <a:bodyPr/>
          <a:lstStyle/>
          <a:p>
            <a:r>
              <a:rPr lang="en-IN" sz="3600" dirty="0"/>
              <a:t>About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9A315-CF4D-F2D2-EA6A-B88053296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The dataset contains IT Development activity and performance records.</a:t>
            </a:r>
          </a:p>
          <a:p>
            <a:pPr algn="just"/>
            <a:r>
              <a:rPr lang="en-IN" dirty="0"/>
              <a:t>It captures information about developers, teams, projects and development activities.</a:t>
            </a:r>
          </a:p>
          <a:p>
            <a:pPr algn="just"/>
            <a:r>
              <a:rPr lang="en-IN" dirty="0"/>
              <a:t>The dataset includes performance – related measures such as work hours, productivity score and completion rate.</a:t>
            </a:r>
          </a:p>
          <a:p>
            <a:pPr algn="just"/>
            <a:r>
              <a:rPr lang="en-IN" dirty="0"/>
              <a:t>It also contains information used to analyse workload and burnout risk.</a:t>
            </a:r>
          </a:p>
          <a:p>
            <a:pPr algn="just"/>
            <a:r>
              <a:rPr lang="en-IN" dirty="0"/>
              <a:t>The data can be analysed across developers, teams, project and time periods.</a:t>
            </a:r>
          </a:p>
          <a:p>
            <a:pPr algn="just"/>
            <a:r>
              <a:rPr lang="en-IN" dirty="0"/>
              <a:t>The dataset was prepared and modelled in Power BI to create an interactive performance dashboard.</a:t>
            </a:r>
          </a:p>
        </p:txBody>
      </p:sp>
    </p:spTree>
    <p:extLst>
      <p:ext uri="{BB962C8B-B14F-4D97-AF65-F5344CB8AC3E}">
        <p14:creationId xmlns:p14="http://schemas.microsoft.com/office/powerpoint/2010/main" val="291742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DA28A-2F38-D632-3676-8EF2EC25F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361" y="1042218"/>
            <a:ext cx="8782473" cy="811029"/>
          </a:xfrm>
        </p:spPr>
        <p:txBody>
          <a:bodyPr/>
          <a:lstStyle/>
          <a:p>
            <a:r>
              <a:rPr lang="en-IN" sz="3600" dirty="0"/>
              <a:t>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D02E4-B540-FA94-CEA8-D978DA49A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123768"/>
            <a:ext cx="8946541" cy="4124631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The data model follows a Star Scheme, with a central Development Activity / Performance fact table.</a:t>
            </a:r>
          </a:p>
          <a:p>
            <a:pPr algn="just"/>
            <a:r>
              <a:rPr lang="en-IN" dirty="0"/>
              <a:t>The Development Activity table is the main fact table.</a:t>
            </a:r>
          </a:p>
          <a:p>
            <a:pPr algn="just"/>
            <a:r>
              <a:rPr lang="en-IN" dirty="0"/>
              <a:t>It is connected to Developer, Project, Team, and Date tables.</a:t>
            </a:r>
          </a:p>
          <a:p>
            <a:pPr algn="just"/>
            <a:r>
              <a:rPr lang="en-IN" dirty="0"/>
              <a:t>The model helps analyse productivity, workload, completion rate and burnout.</a:t>
            </a:r>
          </a:p>
          <a:p>
            <a:pPr algn="just"/>
            <a:r>
              <a:rPr lang="en-IN" dirty="0"/>
              <a:t>It makes filtering and dashboard analysis easier.</a:t>
            </a:r>
          </a:p>
        </p:txBody>
      </p:sp>
    </p:spTree>
    <p:extLst>
      <p:ext uri="{BB962C8B-B14F-4D97-AF65-F5344CB8AC3E}">
        <p14:creationId xmlns:p14="http://schemas.microsoft.com/office/powerpoint/2010/main" val="2514361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92F4-7A1F-0EAD-D34E-CEC50A91E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1189703"/>
            <a:ext cx="8640456" cy="1147915"/>
          </a:xfrm>
        </p:spPr>
        <p:txBody>
          <a:bodyPr/>
          <a:lstStyle/>
          <a:p>
            <a:r>
              <a:rPr lang="en-IN" dirty="0"/>
              <a:t>Relationship &amp; Cardinality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EE6A2-BF33-1314-CEEF-6911373E2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6180" y="2337619"/>
            <a:ext cx="4434347" cy="576262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Relationship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7E5AD-3E32-0B4F-B8B2-70BACA42B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3312" y="3087328"/>
            <a:ext cx="4727217" cy="3169009"/>
          </a:xfrm>
        </p:spPr>
        <p:txBody>
          <a:bodyPr/>
          <a:lstStyle/>
          <a:p>
            <a:r>
              <a:rPr lang="en-IN" dirty="0"/>
              <a:t>Developer </a:t>
            </a:r>
            <a:r>
              <a:rPr lang="en-IN" dirty="0">
                <a:sym typeface="Wingdings" panose="05000000000000000000" pitchFamily="2" charset="2"/>
              </a:rPr>
              <a:t> Development Activity</a:t>
            </a:r>
          </a:p>
          <a:p>
            <a:r>
              <a:rPr lang="en-IN" dirty="0">
                <a:sym typeface="Wingdings" panose="05000000000000000000" pitchFamily="2" charset="2"/>
              </a:rPr>
              <a:t>Project  Development Activity</a:t>
            </a:r>
          </a:p>
          <a:p>
            <a:r>
              <a:rPr lang="en-IN" dirty="0">
                <a:sym typeface="Wingdings" panose="05000000000000000000" pitchFamily="2" charset="2"/>
              </a:rPr>
              <a:t>Team  Development Activity</a:t>
            </a:r>
          </a:p>
          <a:p>
            <a:r>
              <a:rPr lang="en-IN" dirty="0">
                <a:sym typeface="Wingdings" panose="05000000000000000000" pitchFamily="2" charset="2"/>
              </a:rPr>
              <a:t>Date  Development Activity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8BED8-BBBD-CA85-832E-C5E2CAF4FA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324" y="2337619"/>
            <a:ext cx="3954832" cy="576262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Cardinality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B2C38-E27E-AF6A-C710-C7903A745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28852" y="3087328"/>
            <a:ext cx="4121982" cy="3169010"/>
          </a:xfrm>
        </p:spPr>
        <p:txBody>
          <a:bodyPr/>
          <a:lstStyle/>
          <a:p>
            <a:r>
              <a:rPr lang="en-IN" dirty="0"/>
              <a:t>1 : Many (1:*)</a:t>
            </a:r>
          </a:p>
          <a:p>
            <a:r>
              <a:rPr lang="en-IN" dirty="0"/>
              <a:t>1 : Many (1:*)</a:t>
            </a:r>
          </a:p>
          <a:p>
            <a:r>
              <a:rPr lang="en-IN" dirty="0"/>
              <a:t>1 : Many (1:*)</a:t>
            </a:r>
          </a:p>
          <a:p>
            <a:r>
              <a:rPr lang="en-IN" dirty="0"/>
              <a:t>1 : Many (1:*)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1696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F45C-9765-CCF1-FD4B-033EECF9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6985"/>
          </a:xfrm>
        </p:spPr>
        <p:txBody>
          <a:bodyPr/>
          <a:lstStyle/>
          <a:p>
            <a:pPr algn="ctr"/>
            <a:r>
              <a:rPr lang="en-IN" sz="3600" dirty="0"/>
              <a:t>Dashboard 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6F7B3D-AAD2-9FC7-6390-0F2EE1C5E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15846"/>
            <a:ext cx="3055733" cy="4832554"/>
          </a:xfrm>
        </p:spPr>
        <p:txBody>
          <a:bodyPr/>
          <a:lstStyle/>
          <a:p>
            <a:pPr marL="0" indent="0">
              <a:buClr>
                <a:schemeClr val="accent1">
                  <a:lumMod val="75000"/>
                </a:schemeClr>
              </a:buClr>
              <a:buNone/>
            </a:pPr>
            <a:r>
              <a:rPr lang="en-IN" sz="2400" dirty="0"/>
              <a:t>Key Features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800" dirty="0"/>
              <a:t>Overall development activity monitoring.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800" dirty="0"/>
              <a:t>Team-level activity comparison.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800" dirty="0"/>
              <a:t>Productivity performance analysis.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800" dirty="0"/>
              <a:t>Year/month activity trends.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800" dirty="0"/>
              <a:t>High-level KPI monitoring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C6BAD7-C6F6-C291-DB10-845306067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044" y="1514168"/>
            <a:ext cx="6929643" cy="416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1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683D-2A3C-0B81-DC52-F048A9DFD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6650"/>
          </a:xfrm>
        </p:spPr>
        <p:txBody>
          <a:bodyPr/>
          <a:lstStyle/>
          <a:p>
            <a:pPr algn="ctr"/>
            <a:r>
              <a:rPr lang="en-IN" sz="3600" dirty="0"/>
              <a:t>Developer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93B0F-70DF-42A1-E906-1FCC73D91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24000"/>
            <a:ext cx="2908249" cy="4724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Key Features</a:t>
            </a:r>
          </a:p>
          <a:p>
            <a:r>
              <a:rPr lang="en-IN" sz="1800" dirty="0"/>
              <a:t>Identifies top-performing developers.</a:t>
            </a:r>
          </a:p>
          <a:p>
            <a:r>
              <a:rPr lang="en-IN" sz="1800" dirty="0"/>
              <a:t>Compares developer productivity.</a:t>
            </a:r>
          </a:p>
          <a:p>
            <a:r>
              <a:rPr lang="en-IN" sz="1800" dirty="0" err="1"/>
              <a:t>Analyzes</a:t>
            </a:r>
            <a:r>
              <a:rPr lang="en-IN" sz="1800" dirty="0"/>
              <a:t> developer work hours.</a:t>
            </a:r>
          </a:p>
          <a:p>
            <a:r>
              <a:rPr lang="en-IN" sz="1800" dirty="0"/>
              <a:t>Compares completion rates.</a:t>
            </a:r>
          </a:p>
          <a:p>
            <a:r>
              <a:rPr lang="en-IN" sz="1800" dirty="0"/>
              <a:t>Allows team-based filtering.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3EFE0-29A1-C719-96F1-D85BEE00D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386" y="1641987"/>
            <a:ext cx="7167717" cy="413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97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2E4EA-380C-8660-E6DC-FF3DE490B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35308"/>
          </a:xfrm>
        </p:spPr>
        <p:txBody>
          <a:bodyPr/>
          <a:lstStyle/>
          <a:p>
            <a:pPr algn="ctr"/>
            <a:r>
              <a:rPr lang="en-IN" sz="3600" dirty="0"/>
              <a:t>Workload &amp; Burnout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86CDB-8C05-F71C-A7CF-93B851B03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1622324"/>
            <a:ext cx="3380198" cy="4626076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Key Features</a:t>
            </a:r>
          </a:p>
          <a:p>
            <a:r>
              <a:rPr lang="en-IN" sz="1800" dirty="0"/>
              <a:t>Tracks total work hours over time.</a:t>
            </a:r>
          </a:p>
          <a:p>
            <a:r>
              <a:rPr lang="en-IN" sz="1800" dirty="0"/>
              <a:t>Compares burnout cases across teams.</a:t>
            </a:r>
          </a:p>
          <a:p>
            <a:r>
              <a:rPr lang="en-IN" sz="1800" dirty="0"/>
              <a:t>Examines productivity against burnout rate.</a:t>
            </a:r>
          </a:p>
          <a:p>
            <a:r>
              <a:rPr lang="en-IN" sz="1800" dirty="0"/>
              <a:t>Helps identify workload-related performance patterns.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960F1-6577-81D9-6A9A-423754652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511" y="1622324"/>
            <a:ext cx="6676102" cy="420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19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AC763-D09A-6589-56D7-FFF74394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5979"/>
          </a:xfrm>
        </p:spPr>
        <p:txBody>
          <a:bodyPr/>
          <a:lstStyle/>
          <a:p>
            <a:pPr algn="ctr"/>
            <a:r>
              <a:rPr lang="en-IN" sz="3600" dirty="0"/>
              <a:t>Project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A51AC-713A-687B-3EB2-3C0F6F51F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1661652"/>
            <a:ext cx="3517848" cy="458674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Key</a:t>
            </a:r>
            <a:r>
              <a:rPr lang="en-IN" sz="2400" dirty="0"/>
              <a:t> Features</a:t>
            </a:r>
          </a:p>
          <a:p>
            <a:r>
              <a:rPr lang="en-IN" sz="1800" dirty="0"/>
              <a:t>Compares project activity.</a:t>
            </a:r>
          </a:p>
          <a:p>
            <a:r>
              <a:rPr lang="en-IN" sz="1800" dirty="0" err="1"/>
              <a:t>Analyzes</a:t>
            </a:r>
            <a:r>
              <a:rPr lang="en-IN" sz="1800" dirty="0"/>
              <a:t> project productivity.</a:t>
            </a:r>
          </a:p>
          <a:p>
            <a:r>
              <a:rPr lang="en-IN" sz="1800" dirty="0"/>
              <a:t>Evaluates project productivity.</a:t>
            </a:r>
          </a:p>
          <a:p>
            <a:r>
              <a:rPr lang="en-IN" sz="1800" dirty="0"/>
              <a:t>Supports project-level performance comparison.</a:t>
            </a:r>
          </a:p>
          <a:p>
            <a:r>
              <a:rPr lang="en-IN" sz="1800" dirty="0"/>
              <a:t>Provides interactive project filtering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D4322-D3DC-6A14-9D51-3B10364A6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60" y="1573161"/>
            <a:ext cx="6924729" cy="420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326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D1530-5F0D-26F7-F396-04DE38387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737419"/>
            <a:ext cx="8947522" cy="766916"/>
          </a:xfrm>
        </p:spPr>
        <p:txBody>
          <a:bodyPr/>
          <a:lstStyle/>
          <a:p>
            <a:r>
              <a:rPr lang="en-IN" sz="3600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F8B80-005B-D127-C917-39AB758F3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91148"/>
            <a:ext cx="8946541" cy="4557252"/>
          </a:xfrm>
        </p:spPr>
        <p:txBody>
          <a:bodyPr/>
          <a:lstStyle/>
          <a:p>
            <a:pPr algn="just"/>
            <a:r>
              <a:rPr lang="en-IN" dirty="0"/>
              <a:t>Productivity : Productivity varies across developers and teams.</a:t>
            </a:r>
          </a:p>
          <a:p>
            <a:pPr algn="just"/>
            <a:r>
              <a:rPr lang="en-IN" dirty="0"/>
              <a:t>Workload : Work hours differ between developers, helping identify workload imbalances.</a:t>
            </a:r>
          </a:p>
          <a:p>
            <a:pPr algn="just"/>
            <a:r>
              <a:rPr lang="en-IN" dirty="0"/>
              <a:t>Project Performance : Completion rates vary across projects.</a:t>
            </a:r>
          </a:p>
          <a:p>
            <a:pPr algn="just"/>
            <a:r>
              <a:rPr lang="en-IN" dirty="0"/>
              <a:t>Burnout  : Higher workload can be associated with increased burnout risk.</a:t>
            </a:r>
          </a:p>
          <a:p>
            <a:pPr algn="just"/>
            <a:r>
              <a:rPr lang="en-IN" dirty="0"/>
              <a:t>Performance Comparison : The dashboard makes it easy to compare developers and teams.</a:t>
            </a:r>
          </a:p>
          <a:p>
            <a:pPr algn="just"/>
            <a:r>
              <a:rPr lang="en-IN" dirty="0"/>
              <a:t>Overall : The dashboard provides a clear view of productivity, workload, project completion, and burnout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944520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8B4E2-BF84-E301-57AE-F72C1798A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5" y="1002889"/>
            <a:ext cx="8851299" cy="1002891"/>
          </a:xfrm>
        </p:spPr>
        <p:txBody>
          <a:bodyPr/>
          <a:lstStyle/>
          <a:p>
            <a:r>
              <a:rPr lang="en-IN" sz="3600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5E730-48DA-D983-5D28-457D574D8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05780"/>
            <a:ext cx="8946541" cy="3849331"/>
          </a:xfrm>
        </p:spPr>
        <p:txBody>
          <a:bodyPr/>
          <a:lstStyle/>
          <a:p>
            <a:r>
              <a:rPr lang="en-IN" dirty="0"/>
              <a:t>Balance workloads to avoid excessive work hours and reduce burnout risk.</a:t>
            </a:r>
          </a:p>
          <a:p>
            <a:r>
              <a:rPr lang="en-IN" dirty="0"/>
              <a:t>Monitor productivity regularly to identify performance changes early.</a:t>
            </a:r>
          </a:p>
          <a:p>
            <a:r>
              <a:rPr lang="en-IN" dirty="0"/>
              <a:t>Support developers with high workloads through better task distribution.</a:t>
            </a:r>
          </a:p>
          <a:p>
            <a:r>
              <a:rPr lang="en-IN" dirty="0"/>
              <a:t>Improve project planning to maintain better completion rates.</a:t>
            </a:r>
          </a:p>
          <a:p>
            <a:r>
              <a:rPr lang="en-IN" dirty="0"/>
              <a:t>Use the Poer BI dashboard regularly to track performance and make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465132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8AD4-5BB8-5147-570D-44D371B6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816076"/>
            <a:ext cx="8947522" cy="884905"/>
          </a:xfrm>
        </p:spPr>
        <p:txBody>
          <a:bodyPr/>
          <a:lstStyle/>
          <a:p>
            <a:r>
              <a:rPr lang="en-IN" sz="3600" dirty="0"/>
              <a:t>Where This Project Can Be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CEE24-4D03-F475-8875-C084A0D94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946788"/>
            <a:ext cx="8946541" cy="4301612"/>
          </a:xfrm>
        </p:spPr>
        <p:txBody>
          <a:bodyPr/>
          <a:lstStyle/>
          <a:p>
            <a:pPr algn="just"/>
            <a:r>
              <a:rPr lang="en-IN" dirty="0"/>
              <a:t>IT Companies : To monitor developer productivity and workload</a:t>
            </a:r>
          </a:p>
          <a:p>
            <a:pPr algn="just"/>
            <a:r>
              <a:rPr lang="en-IN" dirty="0"/>
              <a:t>Software Development Teams : To track project progress and completion.</a:t>
            </a:r>
          </a:p>
          <a:p>
            <a:pPr algn="just"/>
            <a:r>
              <a:rPr lang="en-IN" dirty="0"/>
              <a:t>Project Management : To identify delays and improve resource allocation.</a:t>
            </a:r>
          </a:p>
          <a:p>
            <a:pPr algn="just"/>
            <a:r>
              <a:rPr lang="en-IN" dirty="0"/>
              <a:t>HR Departments : To monitor workload and potential burnout risks.</a:t>
            </a:r>
          </a:p>
          <a:p>
            <a:pPr algn="just"/>
            <a:r>
              <a:rPr lang="en-IN" dirty="0"/>
              <a:t>Team Managers : To compare team performance and make better decisions.</a:t>
            </a:r>
          </a:p>
          <a:p>
            <a:pPr algn="just"/>
            <a:r>
              <a:rPr lang="en-IN" dirty="0"/>
              <a:t>Management : To use data-driven insights for planning and performance improvement.</a:t>
            </a:r>
          </a:p>
        </p:txBody>
      </p:sp>
    </p:spTree>
    <p:extLst>
      <p:ext uri="{BB962C8B-B14F-4D97-AF65-F5344CB8AC3E}">
        <p14:creationId xmlns:p14="http://schemas.microsoft.com/office/powerpoint/2010/main" val="3037530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51BE-8C7E-E242-4AE5-1994343C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1445342"/>
            <a:ext cx="8947522" cy="914399"/>
          </a:xfrm>
        </p:spPr>
        <p:txBody>
          <a:bodyPr/>
          <a:lstStyle/>
          <a:p>
            <a:r>
              <a:rPr lang="en-IN" sz="3600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951EA-8B2A-A1DF-842D-9CEF1F079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684206"/>
            <a:ext cx="8946541" cy="3564193"/>
          </a:xfrm>
        </p:spPr>
        <p:txBody>
          <a:bodyPr/>
          <a:lstStyle/>
          <a:p>
            <a:r>
              <a:rPr lang="en-IN" dirty="0"/>
              <a:t>Developer Performance Monitoring</a:t>
            </a:r>
          </a:p>
          <a:p>
            <a:r>
              <a:rPr lang="en-IN" dirty="0"/>
              <a:t>Workload  and Burnout Management</a:t>
            </a:r>
          </a:p>
          <a:p>
            <a:r>
              <a:rPr lang="en-IN" dirty="0"/>
              <a:t>Project Progress Tracking</a:t>
            </a:r>
          </a:p>
          <a:p>
            <a:r>
              <a:rPr lang="en-IN" dirty="0"/>
              <a:t>Team Performance Analysis</a:t>
            </a:r>
          </a:p>
          <a:p>
            <a:r>
              <a:rPr lang="en-IN" dirty="0"/>
              <a:t>Resource Allocation</a:t>
            </a:r>
          </a:p>
          <a:p>
            <a:r>
              <a:rPr lang="en-IN" dirty="0"/>
              <a:t>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2660722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0C23C-30AE-82AE-2516-E9A773C40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864" y="766916"/>
            <a:ext cx="8811969" cy="865239"/>
          </a:xfrm>
        </p:spPr>
        <p:txBody>
          <a:bodyPr/>
          <a:lstStyle/>
          <a:p>
            <a:r>
              <a:rPr lang="en-IN" sz="36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417EB-B4E6-D169-7607-CC384F2E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2156"/>
            <a:ext cx="8946541" cy="4616244"/>
          </a:xfrm>
        </p:spPr>
        <p:txBody>
          <a:bodyPr>
            <a:normAutofit/>
          </a:bodyPr>
          <a:lstStyle/>
          <a:p>
            <a:r>
              <a:rPr lang="en-IN" dirty="0"/>
              <a:t>The Power BI dashboard provides a clear and interactive view of IT development performance.</a:t>
            </a:r>
          </a:p>
          <a:p>
            <a:r>
              <a:rPr lang="en-IN" dirty="0"/>
              <a:t>It helps analyse productivity, workload, project completion, and burnout.</a:t>
            </a:r>
          </a:p>
          <a:p>
            <a:r>
              <a:rPr lang="en-IN" dirty="0"/>
              <a:t>The dashboard makes it easier to compare developers, teams and projects.</a:t>
            </a:r>
          </a:p>
          <a:p>
            <a:r>
              <a:rPr lang="en-IN" dirty="0"/>
              <a:t>Interactive slicers, navigation, and bookmarks improve the user experience.</a:t>
            </a:r>
          </a:p>
          <a:p>
            <a:r>
              <a:rPr lang="en-IN" dirty="0"/>
              <a:t>The insights can support  better planning, workload management and data-driven decision-making.</a:t>
            </a:r>
          </a:p>
          <a:p>
            <a:r>
              <a:rPr lang="en-IN" dirty="0"/>
              <a:t>Overall the project transforms raw data into meaningful and actionable information.</a:t>
            </a:r>
          </a:p>
        </p:txBody>
      </p:sp>
    </p:spTree>
    <p:extLst>
      <p:ext uri="{BB962C8B-B14F-4D97-AF65-F5344CB8AC3E}">
        <p14:creationId xmlns:p14="http://schemas.microsoft.com/office/powerpoint/2010/main" val="3047473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0D62-867D-F619-234C-DAE34847F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497394"/>
            <a:ext cx="9404723" cy="1809135"/>
          </a:xfrm>
        </p:spPr>
        <p:txBody>
          <a:bodyPr/>
          <a:lstStyle/>
          <a:p>
            <a:pPr algn="ctr"/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1641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664</TotalTime>
  <Words>694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Century Gothic</vt:lpstr>
      <vt:lpstr>Wingdings</vt:lpstr>
      <vt:lpstr>Wingdings 3</vt:lpstr>
      <vt:lpstr>Ion</vt:lpstr>
      <vt:lpstr>IT Development Activity &amp; Performance Analysis </vt:lpstr>
      <vt:lpstr>Problem Statement</vt:lpstr>
      <vt:lpstr>About the Dataset</vt:lpstr>
      <vt:lpstr>Data Model</vt:lpstr>
      <vt:lpstr>Relationship &amp; Cardinality</vt:lpstr>
      <vt:lpstr>Dashboard Overview</vt:lpstr>
      <vt:lpstr>Developer Performance</vt:lpstr>
      <vt:lpstr>Workload &amp; Burnout</vt:lpstr>
      <vt:lpstr>Project Performance</vt:lpstr>
      <vt:lpstr>Key Insights</vt:lpstr>
      <vt:lpstr>Recommendations</vt:lpstr>
      <vt:lpstr>Where This Project Can Be Used</vt:lpstr>
      <vt:lpstr>Applications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Annmi Sunny</dc:creator>
  <cp:lastModifiedBy>Annmi Sunny</cp:lastModifiedBy>
  <cp:revision>2</cp:revision>
  <dcterms:created xsi:type="dcterms:W3CDTF">2026-08-29T04:26:30Z</dcterms:created>
  <dcterms:modified xsi:type="dcterms:W3CDTF">2026-08-29T17:42:13Z</dcterms:modified>
</cp:coreProperties>
</file>